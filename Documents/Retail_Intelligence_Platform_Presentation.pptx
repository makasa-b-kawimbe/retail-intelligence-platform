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47F32A-0060-4179-A9FC-151B85858899}" v="3" dt="2026-08-20T06:02:07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wimbe, Makasa (164)" userId="08cba194-92b9-411a-a695-9196a569ae24" providerId="ADAL" clId="{BFEF355A-A185-426E-8C09-971713606239}"/>
    <pc:docChg chg="undo custSel delSld modSld">
      <pc:chgData name="Kawimbe, Makasa (164)" userId="08cba194-92b9-411a-a695-9196a569ae24" providerId="ADAL" clId="{BFEF355A-A185-426E-8C09-971713606239}" dt="2026-08-20T06:02:11.700" v="747" actId="120"/>
      <pc:docMkLst>
        <pc:docMk/>
      </pc:docMkLst>
      <pc:sldChg chg="modSp mod">
        <pc:chgData name="Kawimbe, Makasa (164)" userId="08cba194-92b9-411a-a695-9196a569ae24" providerId="ADAL" clId="{BFEF355A-A185-426E-8C09-971713606239}" dt="2026-08-20T04:48:14.898" v="31" actId="20577"/>
        <pc:sldMkLst>
          <pc:docMk/>
          <pc:sldMk cId="0" sldId="256"/>
        </pc:sldMkLst>
        <pc:spChg chg="mod">
          <ac:chgData name="Kawimbe, Makasa (164)" userId="08cba194-92b9-411a-a695-9196a569ae24" providerId="ADAL" clId="{BFEF355A-A185-426E-8C09-971713606239}" dt="2026-08-20T04:47:06.079" v="1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48:14.898" v="31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Kawimbe, Makasa (164)" userId="08cba194-92b9-411a-a695-9196a569ae24" providerId="ADAL" clId="{BFEF355A-A185-426E-8C09-971713606239}" dt="2026-08-20T04:47:51.302" v="6" actId="20577"/>
        <pc:sldMkLst>
          <pc:docMk/>
          <pc:sldMk cId="0" sldId="257"/>
        </pc:sldMkLst>
        <pc:spChg chg="mod">
          <ac:chgData name="Kawimbe, Makasa (164)" userId="08cba194-92b9-411a-a695-9196a569ae24" providerId="ADAL" clId="{BFEF355A-A185-426E-8C09-971713606239}" dt="2026-08-20T04:47:45.614" v="2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47:51.302" v="6" actId="20577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Kawimbe, Makasa (164)" userId="08cba194-92b9-411a-a695-9196a569ae24" providerId="ADAL" clId="{BFEF355A-A185-426E-8C09-971713606239}" dt="2026-08-20T05:03:26.197" v="356" actId="207"/>
        <pc:sldMkLst>
          <pc:docMk/>
          <pc:sldMk cId="0" sldId="258"/>
        </pc:sldMkLst>
        <pc:spChg chg="mod">
          <ac:chgData name="Kawimbe, Makasa (164)" userId="08cba194-92b9-411a-a695-9196a569ae24" providerId="ADAL" clId="{BFEF355A-A185-426E-8C09-971713606239}" dt="2026-08-20T05:03:26.197" v="356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24.965" v="346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3:14.866" v="355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11.105" v="345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2:17.708" v="353" actId="10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36.142" v="347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1:31.562" v="348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2:13.437" v="352" actId="10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36.142" v="347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1:42.720" v="349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2:12.473" v="351" actId="10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36.142" v="347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1:42.720" v="349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2:33.946" v="354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0:36.142" v="347" actId="20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9:02.101" v="342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8:41.580" v="340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8:17.782" v="338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7:29.085" v="334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6:49.562" v="331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6:16" v="328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5:19.446" v="325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3:25.888" v="319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2:54.622" v="316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9:12.072" v="343" actId="1076"/>
          <ac:spMkLst>
            <pc:docMk/>
            <pc:sldMk cId="0" sldId="258"/>
            <ac:spMk id="4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9:27.274" v="344" actId="1076"/>
          <ac:spMkLst>
            <pc:docMk/>
            <pc:sldMk cId="0" sldId="258"/>
            <ac:spMk id="48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8:22.652" v="339" actId="1076"/>
          <ac:spMkLst>
            <pc:docMk/>
            <pc:sldMk cId="0" sldId="258"/>
            <ac:spMk id="49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7:35.688" v="335" actId="1076"/>
          <ac:spMkLst>
            <pc:docMk/>
            <pc:sldMk cId="0" sldId="258"/>
            <ac:spMk id="50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7:05.681" v="332" actId="1076"/>
          <ac:spMkLst>
            <pc:docMk/>
            <pc:sldMk cId="0" sldId="258"/>
            <ac:spMk id="51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6:23.079" v="329" actId="1076"/>
          <ac:spMkLst>
            <pc:docMk/>
            <pc:sldMk cId="0" sldId="258"/>
            <ac:spMk id="5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5:34.298" v="326" actId="1076"/>
          <ac:spMkLst>
            <pc:docMk/>
            <pc:sldMk cId="0" sldId="258"/>
            <ac:spMk id="53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3:50.470" v="321" actId="1076"/>
          <ac:spMkLst>
            <pc:docMk/>
            <pc:sldMk cId="0" sldId="258"/>
            <ac:spMk id="54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4:54:11.395" v="322" actId="1076"/>
          <ac:spMkLst>
            <pc:docMk/>
            <pc:sldMk cId="0" sldId="258"/>
            <ac:spMk id="55" creationId="{00000000-0000-0000-0000-000000000000}"/>
          </ac:spMkLst>
        </pc:spChg>
      </pc:sldChg>
      <pc:sldChg chg="modSp mod">
        <pc:chgData name="Kawimbe, Makasa (164)" userId="08cba194-92b9-411a-a695-9196a569ae24" providerId="ADAL" clId="{BFEF355A-A185-426E-8C09-971713606239}" dt="2026-08-20T05:07:14.706" v="389" actId="1076"/>
        <pc:sldMkLst>
          <pc:docMk/>
          <pc:sldMk cId="0" sldId="259"/>
        </pc:sldMkLst>
        <pc:spChg chg="mod">
          <ac:chgData name="Kawimbe, Makasa (164)" userId="08cba194-92b9-411a-a695-9196a569ae24" providerId="ADAL" clId="{BFEF355A-A185-426E-8C09-971713606239}" dt="2026-08-20T05:07:14.706" v="38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4:49.592" v="387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6:53.142" v="388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Kawimbe, Makasa (164)" userId="08cba194-92b9-411a-a695-9196a569ae24" providerId="ADAL" clId="{BFEF355A-A185-426E-8C09-971713606239}" dt="2026-08-20T05:12:59.950" v="412" actId="948"/>
        <pc:sldMkLst>
          <pc:docMk/>
          <pc:sldMk cId="0" sldId="260"/>
        </pc:sldMkLst>
        <pc:spChg chg="mod">
          <ac:chgData name="Kawimbe, Makasa (164)" userId="08cba194-92b9-411a-a695-9196a569ae24" providerId="ADAL" clId="{BFEF355A-A185-426E-8C09-971713606239}" dt="2026-08-20T05:12:59.950" v="412" actId="94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7:56.242" v="402" actId="103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7:56.242" v="402" actId="103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7:56.242" v="402" actId="103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09:45.480" v="410" actId="948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Kawimbe, Makasa (164)" userId="08cba194-92b9-411a-a695-9196a569ae24" providerId="ADAL" clId="{BFEF355A-A185-426E-8C09-971713606239}" dt="2026-08-20T05:16:08.792" v="422" actId="1076"/>
        <pc:sldMkLst>
          <pc:docMk/>
          <pc:sldMk cId="0" sldId="263"/>
        </pc:sldMkLst>
        <pc:spChg chg="mod">
          <ac:chgData name="Kawimbe, Makasa (164)" userId="08cba194-92b9-411a-a695-9196a569ae24" providerId="ADAL" clId="{BFEF355A-A185-426E-8C09-971713606239}" dt="2026-08-20T05:16:08.792" v="422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15:21.449" v="413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15:25.329" v="414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15:30.243" v="415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15:34.335" v="416" actId="20577"/>
          <ac:spMkLst>
            <pc:docMk/>
            <pc:sldMk cId="0" sldId="263"/>
            <ac:spMk id="46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15:42.175" v="420" actId="20577"/>
          <ac:spMkLst>
            <pc:docMk/>
            <pc:sldMk cId="0" sldId="263"/>
            <ac:spMk id="51" creationId="{00000000-0000-0000-0000-000000000000}"/>
          </ac:spMkLst>
        </pc:spChg>
      </pc:sldChg>
      <pc:sldChg chg="modSp del mod">
        <pc:chgData name="Kawimbe, Makasa (164)" userId="08cba194-92b9-411a-a695-9196a569ae24" providerId="ADAL" clId="{BFEF355A-A185-426E-8C09-971713606239}" dt="2026-08-20T05:22:08.032" v="441" actId="2696"/>
        <pc:sldMkLst>
          <pc:docMk/>
          <pc:sldMk cId="0" sldId="265"/>
        </pc:sldMkLst>
        <pc:spChg chg="mod">
          <ac:chgData name="Kawimbe, Makasa (164)" userId="08cba194-92b9-411a-a695-9196a569ae24" providerId="ADAL" clId="{BFEF355A-A185-426E-8C09-971713606239}" dt="2026-08-20T05:17:44.285" v="440" actId="20577"/>
          <ac:spMkLst>
            <pc:docMk/>
            <pc:sldMk cId="0" sldId="265"/>
            <ac:spMk id="6" creationId="{00000000-0000-0000-0000-000000000000}"/>
          </ac:spMkLst>
        </pc:spChg>
      </pc:sldChg>
      <pc:sldChg chg="del">
        <pc:chgData name="Kawimbe, Makasa (164)" userId="08cba194-92b9-411a-a695-9196a569ae24" providerId="ADAL" clId="{BFEF355A-A185-426E-8C09-971713606239}" dt="2026-08-20T05:22:08.032" v="441" actId="2696"/>
        <pc:sldMkLst>
          <pc:docMk/>
          <pc:sldMk cId="0" sldId="266"/>
        </pc:sldMkLst>
      </pc:sldChg>
      <pc:sldChg chg="addSp delSp modSp mod">
        <pc:chgData name="Kawimbe, Makasa (164)" userId="08cba194-92b9-411a-a695-9196a569ae24" providerId="ADAL" clId="{BFEF355A-A185-426E-8C09-971713606239}" dt="2026-08-20T06:02:11.700" v="747" actId="120"/>
        <pc:sldMkLst>
          <pc:docMk/>
          <pc:sldMk cId="0" sldId="267"/>
        </pc:sldMkLst>
        <pc:spChg chg="mod">
          <ac:chgData name="Kawimbe, Makasa (164)" userId="08cba194-92b9-411a-a695-9196a569ae24" providerId="ADAL" clId="{BFEF355A-A185-426E-8C09-971713606239}" dt="2026-08-20T05:51:11.485" v="454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52:04.132" v="483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58:32.450" v="579" actId="20577"/>
          <ac:spMkLst>
            <pc:docMk/>
            <pc:sldMk cId="0" sldId="267"/>
            <ac:spMk id="12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8:16.555" v="570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8:15.009" v="569" actId="478"/>
          <ac:spMkLst>
            <pc:docMk/>
            <pc:sldMk cId="0" sldId="267"/>
            <ac:spMk id="14" creationId="{00000000-0000-0000-0000-000000000000}"/>
          </ac:spMkLst>
        </pc:spChg>
        <pc:spChg chg="add del mod">
          <ac:chgData name="Kawimbe, Makasa (164)" userId="08cba194-92b9-411a-a695-9196a569ae24" providerId="ADAL" clId="{BFEF355A-A185-426E-8C09-971713606239}" dt="2026-08-20T05:53:17.466" v="530" actId="20577"/>
          <ac:spMkLst>
            <pc:docMk/>
            <pc:sldMk cId="0" sldId="267"/>
            <ac:spMk id="17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56:02.999" v="568" actId="20577"/>
          <ac:spMkLst>
            <pc:docMk/>
            <pc:sldMk cId="0" sldId="267"/>
            <ac:spMk id="19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5:46.412" v="562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5:48.041" v="563" actId="478"/>
          <ac:spMkLst>
            <pc:docMk/>
            <pc:sldMk cId="0" sldId="267"/>
            <ac:spMk id="21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5:53:30.756" v="560" actId="20577"/>
          <ac:spMkLst>
            <pc:docMk/>
            <pc:sldMk cId="0" sldId="267"/>
            <ac:spMk id="24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6:01:20.587" v="744" actId="20577"/>
          <ac:spMkLst>
            <pc:docMk/>
            <pc:sldMk cId="0" sldId="267"/>
            <ac:spMk id="26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9:37.989" v="580" actId="478"/>
          <ac:spMkLst>
            <pc:docMk/>
            <pc:sldMk cId="0" sldId="267"/>
            <ac:spMk id="27" creationId="{00000000-0000-0000-0000-000000000000}"/>
          </ac:spMkLst>
        </pc:spChg>
        <pc:spChg chg="del">
          <ac:chgData name="Kawimbe, Makasa (164)" userId="08cba194-92b9-411a-a695-9196a569ae24" providerId="ADAL" clId="{BFEF355A-A185-426E-8C09-971713606239}" dt="2026-08-20T05:59:39.492" v="581" actId="478"/>
          <ac:spMkLst>
            <pc:docMk/>
            <pc:sldMk cId="0" sldId="267"/>
            <ac:spMk id="28" creationId="{00000000-0000-0000-0000-000000000000}"/>
          </ac:spMkLst>
        </pc:spChg>
        <pc:spChg chg="mod">
          <ac:chgData name="Kawimbe, Makasa (164)" userId="08cba194-92b9-411a-a695-9196a569ae24" providerId="ADAL" clId="{BFEF355A-A185-426E-8C09-971713606239}" dt="2026-08-20T06:02:11.700" v="747" actId="120"/>
          <ac:spMkLst>
            <pc:docMk/>
            <pc:sldMk cId="0" sldId="267"/>
            <ac:spMk id="2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1">
                <a:solidFill>
                  <a:srgbClr val="000000"/>
                </a:solidFill>
              </a:rPr>
              <a:t>Monthly Transaction Volume (Sep 2019 – Sep 2020, 000s)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Transactions (000s)</c:v>
                </c:pt>
              </c:strCache>
            </c:strRef>
          </c:tx>
          <c:spPr>
            <a:solidFill>
              <a:srgbClr val="D4AF37"/>
            </a:solidFill>
          </c:spPr>
          <c:invertIfNegative val="1"/>
          <c:cat>
            <c:strRef>
              <c:f>Sheet1!$A$2:$A$14</c:f>
              <c:strCache>
                <c:ptCount val="13"/>
                <c:pt idx="0">
                  <c:v>Sep
'19</c:v>
                </c:pt>
                <c:pt idx="1">
                  <c:v>Oct
'19</c:v>
                </c:pt>
                <c:pt idx="2">
                  <c:v>Nov
'19</c:v>
                </c:pt>
                <c:pt idx="3">
                  <c:v>Dec
'19</c:v>
                </c:pt>
                <c:pt idx="4">
                  <c:v>Jan
'20</c:v>
                </c:pt>
                <c:pt idx="5">
                  <c:v>Feb
'20</c:v>
                </c:pt>
                <c:pt idx="6">
                  <c:v>Mar
'20*</c:v>
                </c:pt>
                <c:pt idx="7">
                  <c:v>Apr
'20*</c:v>
                </c:pt>
                <c:pt idx="8">
                  <c:v>May
'20</c:v>
                </c:pt>
                <c:pt idx="9">
                  <c:v>Jun
'20</c:v>
                </c:pt>
                <c:pt idx="10">
                  <c:v>Jul
'20</c:v>
                </c:pt>
                <c:pt idx="11">
                  <c:v>Aug
'20</c:v>
                </c:pt>
                <c:pt idx="12">
                  <c:v>Sep
'20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548</c:v>
                </c:pt>
                <c:pt idx="1">
                  <c:v>672</c:v>
                </c:pt>
                <c:pt idx="2">
                  <c:v>718</c:v>
                </c:pt>
                <c:pt idx="3">
                  <c:v>582</c:v>
                </c:pt>
                <c:pt idx="4">
                  <c:v>491</c:v>
                </c:pt>
                <c:pt idx="5">
                  <c:v>523</c:v>
                </c:pt>
                <c:pt idx="6">
                  <c:v>384</c:v>
                </c:pt>
                <c:pt idx="7">
                  <c:v>291</c:v>
                </c:pt>
                <c:pt idx="8">
                  <c:v>379</c:v>
                </c:pt>
                <c:pt idx="9">
                  <c:v>492</c:v>
                </c:pt>
                <c:pt idx="10">
                  <c:v>514</c:v>
                </c:pt>
                <c:pt idx="11">
                  <c:v>541</c:v>
                </c:pt>
                <c:pt idx="12">
                  <c:v>558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CEB-4F69-A298-B09CE3521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44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4444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h-and-m-personalized-fashion-recommendations/data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74920"/>
            <a:ext cx="10058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Daimler CS"/>
              </a:rPr>
              <a:t>Retail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AF37"/>
                </a:solidFill>
                <a:latin typeface="Daimler CS"/>
              </a:rPr>
              <a:t>Customer Segmentation  ·  Demand Forecasting  ·  Personalised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18688"/>
            <a:ext cx="100584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AABBCC"/>
                </a:solidFill>
                <a:latin typeface="Daimler CS"/>
              </a:rPr>
              <a:t>UC Berkeley Professional Certificate in Machine Learning &amp; A</a:t>
            </a:r>
            <a:r>
              <a:rPr lang="en-US" sz="1300" b="0" i="0" dirty="0">
                <a:solidFill>
                  <a:srgbClr val="AABBCC"/>
                </a:solidFill>
                <a:latin typeface="Daimler CS"/>
              </a:rPr>
              <a:t>rtificial Intelligence</a:t>
            </a:r>
            <a:endParaRPr sz="1300" b="0" i="0" dirty="0">
              <a:solidFill>
                <a:srgbClr val="AABBCC"/>
              </a:solidFill>
              <a:latin typeface="Daimler CS"/>
            </a:endParaRPr>
          </a:p>
          <a:p>
            <a:pPr algn="l"/>
            <a:r>
              <a:rPr sz="1300" b="0" i="0" dirty="0">
                <a:solidFill>
                  <a:srgbClr val="AABBCC"/>
                </a:solidFill>
                <a:latin typeface="Daimler CS"/>
              </a:rPr>
              <a:t>Capstone Project  |  H&amp;M Kaggle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  <a:latin typeface="Daimler CS"/>
              </a:rPr>
              <a:t>Makasa Kawimbe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1 — Goals, challenges, and potential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Daimler CS"/>
              </a:rPr>
              <a:t>Fashion retailers face three compounding challenges that erode margin and customer loyalty: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3749039" cy="32461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457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Daimler CS"/>
              </a:rPr>
              <a:t>Demand Uncertainty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212848"/>
            <a:ext cx="345643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304288"/>
            <a:ext cx="34564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Daimler CS"/>
              </a:rPr>
              <a:t>Over- and under-stocking costs the industry ~$1.5T annually. Seasonal demand is hard to predict without data-driven forecasting tools.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822191"/>
            <a:ext cx="345643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3877056"/>
            <a:ext cx="3456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00000"/>
                </a:solidFill>
                <a:latin typeface="Daimler CS"/>
              </a:rPr>
              <a:t>Smarter inventory → less waste, better 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719072"/>
            <a:ext cx="3749039" cy="32461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24528" y="1719072"/>
            <a:ext cx="457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Daimler CS"/>
              </a:rPr>
              <a:t>Customer Fragmentation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212848"/>
            <a:ext cx="345643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2304288"/>
            <a:ext cx="34564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Daimler CS"/>
              </a:rPr>
              <a:t>One-size-fits-all marketing ignores radically different purchase patterns. Segments must be data-driven to be actionable.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822191"/>
            <a:ext cx="345643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877056"/>
            <a:ext cx="3456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00000"/>
                </a:solidFill>
                <a:latin typeface="Daimler CS"/>
              </a:rPr>
              <a:t>Segments → targeted campaigns, higher conversion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6" y="1719072"/>
            <a:ext cx="3749039" cy="32461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29016" y="1719072"/>
            <a:ext cx="45720" cy="3246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Daimler CS"/>
              </a:rPr>
              <a:t>Recommendation Gap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8" y="2212848"/>
            <a:ext cx="345643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2304288"/>
            <a:ext cx="34564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Daimler CS"/>
              </a:rPr>
              <a:t>Most retailers rely on popularity charts. Personalisation at scale requires collaborative filtering — not editorial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3608" y="3822191"/>
            <a:ext cx="345643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3877056"/>
            <a:ext cx="3456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 dirty="0">
                <a:solidFill>
                  <a:srgbClr val="000000"/>
                </a:solidFill>
                <a:latin typeface="Daimler CS"/>
              </a:rPr>
              <a:t>CF → +67.5% Recall@10</a:t>
            </a:r>
            <a:r>
              <a:rPr lang="en-US" sz="1050" b="1" i="1" dirty="0">
                <a:solidFill>
                  <a:srgbClr val="000000"/>
                </a:solidFill>
                <a:latin typeface="Daimler CS"/>
              </a:rPr>
              <a:t>*</a:t>
            </a:r>
            <a:r>
              <a:rPr sz="1050" b="1" i="1" dirty="0">
                <a:solidFill>
                  <a:srgbClr val="000000"/>
                </a:solidFill>
                <a:latin typeface="Daimler CS"/>
              </a:rPr>
              <a:t> vs popularity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138928"/>
            <a:ext cx="11521440" cy="384048"/>
          </a:xfrm>
          <a:prstGeom prst="rect">
            <a:avLst/>
          </a:prstGeom>
          <a:solidFill>
            <a:srgbClr val="FFFFE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79" y="5184648"/>
            <a:ext cx="11338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i="1" dirty="0">
                <a:solidFill>
                  <a:srgbClr val="707070"/>
                </a:solidFill>
                <a:latin typeface="Daimler CS"/>
              </a:rPr>
              <a:t>*</a:t>
            </a:r>
            <a:r>
              <a:rPr sz="900" b="0" i="1" dirty="0">
                <a:solidFill>
                  <a:srgbClr val="707070"/>
                </a:solidFill>
                <a:latin typeface="Daimler CS"/>
              </a:rPr>
              <a:t>Recall@10: Out of all the articles a customer actually bought, what percentage appear in the model’s top 10 recommendations? A higher score means the model is better at surfacing items customers want.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latin typeface="Daimler CS"/>
              </a:rPr>
              <a:t>Model Outcomes &amp; Learning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2 — Learning paradigm, algorithm selection, and expected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Daimler CS"/>
              </a:rPr>
              <a:t>Three distinct ML paradigms are combined to address each business challenge: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3794760" cy="44805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45720" cy="4480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78308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latin typeface="Daimler CS"/>
              </a:rPr>
              <a:t>Demand</a:t>
            </a:r>
          </a:p>
          <a:p>
            <a:pPr algn="ctr"/>
            <a:r>
              <a:rPr sz="1500" b="1" i="0" dirty="0">
                <a:latin typeface="Daimler CS"/>
              </a:rPr>
              <a:t>Forecasting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377440"/>
            <a:ext cx="34747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4505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 b="1" i="0">
                <a:solidFill>
                  <a:srgbClr val="707070"/>
                </a:solidFill>
                <a:latin typeface="Daimler CS"/>
              </a:defRPr>
            </a:lvl1pPr>
          </a:lstStyle>
          <a:p>
            <a:r>
              <a:rPr dirty="0"/>
              <a:t>Learning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697480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latin typeface="Daimler CS"/>
              </a:rPr>
              <a:t>Supervised Learning</a:t>
            </a:r>
          </a:p>
          <a:p>
            <a:pPr algn="l"/>
            <a:r>
              <a:rPr sz="1050" b="0" i="0">
                <a:latin typeface="Daimler CS"/>
              </a:rPr>
              <a:t>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" y="3207715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 b="1" i="0">
                <a:solidFill>
                  <a:srgbClr val="707070"/>
                </a:solidFill>
                <a:latin typeface="Daimler CS"/>
              </a:defRPr>
            </a:lvl1pPr>
          </a:lstStyle>
          <a:p>
            <a:r>
              <a:rPr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54603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latin typeface="Daimler CS"/>
              </a:rPr>
              <a:t>Random Forest Regressor</a:t>
            </a:r>
          </a:p>
          <a:p>
            <a:pPr algn="l"/>
            <a:r>
              <a:rPr sz="1050" b="0" i="0" dirty="0">
                <a:latin typeface="Daimler CS"/>
              </a:rPr>
              <a:t>(200 trees, </a:t>
            </a:r>
            <a:r>
              <a:rPr sz="1050" b="0" i="0" dirty="0" err="1">
                <a:latin typeface="Daimler CS"/>
              </a:rPr>
              <a:t>max_depth</a:t>
            </a:r>
            <a:r>
              <a:rPr sz="1050" b="0" i="0" dirty="0">
                <a:latin typeface="Daimler CS"/>
              </a:rPr>
              <a:t>=12)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4095142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" y="4169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 b="1" i="0">
                <a:solidFill>
                  <a:srgbClr val="707070"/>
                </a:solidFill>
                <a:latin typeface="Daimler CS"/>
              </a:defRPr>
            </a:lvl1pPr>
          </a:lstStyle>
          <a:p>
            <a:r>
              <a:rPr dirty="0"/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" y="4456327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latin typeface="Daimler CS"/>
              </a:rPr>
              <a:t>Predicted weekly unit</a:t>
            </a:r>
          </a:p>
          <a:p>
            <a:pPr algn="l"/>
            <a:r>
              <a:rPr sz="1050" b="0" i="0" dirty="0">
                <a:latin typeface="Daimler CS"/>
              </a:rPr>
              <a:t>volume per product 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5159045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" y="5230570"/>
            <a:ext cx="3474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 b="1" i="0">
                <a:solidFill>
                  <a:srgbClr val="707070"/>
                </a:solidFill>
                <a:latin typeface="Daimler CS"/>
              </a:defRPr>
            </a:lvl1pPr>
          </a:lstStyle>
          <a:p>
            <a:r>
              <a:rPr dirty="0"/>
              <a:t>Expected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5449824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latin typeface="Daimler CS"/>
              </a:rPr>
              <a:t>Continuous float ≥ 0</a:t>
            </a:r>
          </a:p>
          <a:p>
            <a:pPr algn="l"/>
            <a:r>
              <a:rPr sz="1050" b="0" i="0" dirty="0">
                <a:latin typeface="Daimler CS"/>
              </a:rPr>
              <a:t>(clipped, no negative volume)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1719072"/>
            <a:ext cx="3794760" cy="44805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79" y="1719072"/>
            <a:ext cx="45720" cy="4480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Daimler CS"/>
              </a:rPr>
              <a:t>Customer</a:t>
            </a:r>
          </a:p>
          <a:p>
            <a:pPr algn="ctr"/>
            <a:r>
              <a:rPr sz="1500" b="1" i="0">
                <a:solidFill>
                  <a:srgbClr val="000000"/>
                </a:solidFill>
                <a:latin typeface="Daimler CS"/>
              </a:rPr>
              <a:t>Segmentation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1" y="2377440"/>
            <a:ext cx="34747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62271" y="24505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070"/>
                </a:solidFill>
                <a:latin typeface="Daimler CS"/>
              </a:rPr>
              <a:t>Learning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1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Unsupervised Learning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Clustering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1" y="3200400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57699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Algorithm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1" y="3429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K-Means  (K=4)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(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n_init</a:t>
            </a:r>
            <a:r>
              <a:rPr sz="1050" b="0" i="0" dirty="0">
                <a:solidFill>
                  <a:srgbClr val="444444"/>
                </a:solidFill>
                <a:latin typeface="Daimler CS"/>
              </a:rPr>
              <a:t>=20, 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max_iter</a:t>
            </a:r>
            <a:r>
              <a:rPr sz="1050" b="0" i="0" dirty="0">
                <a:solidFill>
                  <a:srgbClr val="444444"/>
                </a:solidFill>
                <a:latin typeface="Daimler CS"/>
              </a:rPr>
              <a:t>=500)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4106569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7699" y="4169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7699" y="445404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Segment assignment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per customer (0–3 + label)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59" y="5139841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62271" y="52029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Expected 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7699" y="54498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Discrete integer label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(4 mutually exclusive groups)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1719072"/>
            <a:ext cx="3794760" cy="44805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75319" y="1719072"/>
            <a:ext cx="45720" cy="4480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39911" y="178308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Daimler CS"/>
              </a:rPr>
              <a:t>Personalised</a:t>
            </a:r>
          </a:p>
          <a:p>
            <a:pPr algn="ctr"/>
            <a:r>
              <a:rPr sz="1500" b="1" i="0">
                <a:solidFill>
                  <a:srgbClr val="000000"/>
                </a:solidFill>
                <a:latin typeface="Daimler CS"/>
              </a:rPr>
              <a:t>Recommendations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1" y="2377440"/>
            <a:ext cx="34747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39911" y="24505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070"/>
                </a:solidFill>
                <a:latin typeface="Daimler CS"/>
              </a:rPr>
              <a:t>Learning 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1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Unsupervised Learning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Collaborative Filtering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39911" y="3191256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39911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Algorithm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1" y="3429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Item-Item Cosine Similarity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+ Hybrid 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CF+Content</a:t>
            </a:r>
            <a:endParaRPr sz="1050" b="0" i="0" dirty="0">
              <a:solidFill>
                <a:srgbClr val="444444"/>
              </a:solidFill>
              <a:latin typeface="Daimler 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439911" y="4114798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9911" y="419800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5339" y="445632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Ranked top-10 article list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per customer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9911" y="5130241"/>
            <a:ext cx="34747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9911" y="52029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707070"/>
                </a:solidFill>
                <a:latin typeface="Daimler CS"/>
              </a:rPr>
              <a:t>Expected Format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9911" y="54498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Ordered list of article IDs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(cold-start: segment fallback)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3 — Source, scope, and transaction volume over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11521440" cy="7498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4AF37"/>
                </a:solidFill>
                <a:latin typeface="Daimler CS"/>
              </a:rPr>
              <a:t>31.8M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73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Daimler CS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307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4AF37"/>
                </a:solidFill>
                <a:latin typeface="Daimler CS"/>
              </a:rPr>
              <a:t>1.37M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73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Daimler CS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307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4AF37"/>
                </a:solidFill>
                <a:latin typeface="Daimler CS"/>
              </a:rPr>
              <a:t>105K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673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Daimler CS"/>
              </a:rPr>
              <a:t>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307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4AF37"/>
                </a:solidFill>
                <a:latin typeface="Daimler CS"/>
              </a:rPr>
              <a:t>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73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Daimler CS"/>
              </a:rPr>
              <a:t>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307592"/>
            <a:ext cx="2194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D4AF37"/>
                </a:solidFill>
                <a:latin typeface="Daimler CS"/>
              </a:rPr>
              <a:t>Kaggle.com</a:t>
            </a:r>
            <a:endParaRPr sz="1900" b="1" i="0" dirty="0">
              <a:solidFill>
                <a:srgbClr val="D4AF37"/>
              </a:solidFill>
              <a:latin typeface="Daimler 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20" y="1673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Daimler CS"/>
              </a:rPr>
              <a:t>Public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21408"/>
            <a:ext cx="115214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20040" y="2212848"/>
          <a:ext cx="7315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20040" y="55138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F360C"/>
                </a:solidFill>
                <a:latin typeface="Daimler CS"/>
              </a:rPr>
              <a:t>* Mar–Apr 2020: COVID-19 lockdown. Transaction volume fell to its lowest point (∼291K in Apr vs 718K peak in Nov 2019), reflecting temporary store closures across markets.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943600"/>
            <a:ext cx="7315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7070"/>
                </a:solidFill>
                <a:latin typeface="Daimler CS"/>
              </a:rPr>
              <a:t>Data source: </a:t>
            </a:r>
            <a:r>
              <a:rPr sz="800" b="0" i="1" dirty="0">
                <a:solidFill>
                  <a:srgbClr val="707070"/>
                </a:solidFill>
                <a:latin typeface="Daimler CS"/>
                <a:hlinkClick r:id="rId3"/>
              </a:rPr>
              <a:t>kaggle.com/competitions/h-and-m-personalized-fashion-recommendations/data</a:t>
            </a:r>
            <a:endParaRPr sz="800" b="0" i="1" dirty="0">
              <a:solidFill>
                <a:srgbClr val="707070"/>
              </a:solidFill>
              <a:latin typeface="Daimler 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18120" y="2212848"/>
            <a:ext cx="4041648" cy="3941063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18120" y="2212848"/>
            <a:ext cx="36576" cy="39410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82712" y="2322576"/>
            <a:ext cx="3803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Dataset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2712" y="2688336"/>
            <a:ext cx="3803904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2734056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Files: transactions, articles,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3063239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53 weeks spanning 3 fashion seasons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3392423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105K articles across 19 product groups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721607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1.37M customers; ~15% missing age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(imputed with median)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4050791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COVID demand dip: Mar–Apr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4379976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Full recovery by Jun 2020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Data Preprocessing &amp;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4 — Cleaning, splitting, encoding, and feature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3794760" cy="48463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36576" cy="484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527048"/>
            <a:ext cx="3557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Data Cleaning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1892808"/>
            <a:ext cx="35570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19385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Removed duplicate transaction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176272"/>
            <a:ext cx="35204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Imputed missing customer age with median</a:t>
            </a:r>
            <a:endParaRPr lang="en-US" sz="1050" b="0" i="0" dirty="0">
              <a:solidFill>
                <a:srgbClr val="444444"/>
              </a:solidFill>
              <a:latin typeface="Daimler CS"/>
            </a:endParaRPr>
          </a:p>
          <a:p>
            <a:pPr marL="91440" indent="-91440"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(∼15% of records affected)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5054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Standardised</a:t>
            </a:r>
            <a:r>
              <a:rPr sz="1050" b="0" i="0" dirty="0">
                <a:solidFill>
                  <a:srgbClr val="444444"/>
                </a:solidFill>
                <a:latin typeface="Daimler CS"/>
              </a:rPr>
              <a:t> 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club_member_status</a:t>
            </a:r>
            <a:r>
              <a:rPr sz="1050" b="0" i="0" dirty="0">
                <a:solidFill>
                  <a:srgbClr val="444444"/>
                </a:solidFill>
                <a:latin typeface="Daimler CS"/>
              </a:rPr>
              <a:t> categories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(3 inconsistent variants → canonical labels)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834639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Cast </a:t>
            </a:r>
            <a:r>
              <a:rPr sz="1050" b="0" i="0" dirty="0" err="1">
                <a:solidFill>
                  <a:srgbClr val="444444"/>
                </a:solidFill>
                <a:latin typeface="Daimler CS"/>
              </a:rPr>
              <a:t>article_id</a:t>
            </a:r>
            <a:r>
              <a:rPr sz="1050" b="0" i="0" dirty="0">
                <a:solidFill>
                  <a:srgbClr val="444444"/>
                </a:solidFill>
                <a:latin typeface="Daimler CS"/>
              </a:rPr>
              <a:t> to string (prevent integer</a:t>
            </a:r>
          </a:p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overflow on 10-digit identifiers)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16382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Verified price &gt; 0 for all training transactions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417320"/>
            <a:ext cx="3794760" cy="48463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79" y="1417320"/>
            <a:ext cx="36576" cy="484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1" y="1527048"/>
            <a:ext cx="3557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Train / Validation / Test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1" y="1892808"/>
            <a:ext cx="35570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1" y="19385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Time-based split — no random shuffling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(prevents future data leaking into training)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226771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Train:  Sep 20, 2019 – Jun 21, 2020  (~9 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259689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Validation:  Jun 22 – Aug 9, 2020  (7 weeks)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2926079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Test:  Aug 10 – Sep 22, 2020  (6 weeks, holdout)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1" y="3255263"/>
            <a:ext cx="35204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914400"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•  Lag/rolling features shifted ≥ 1 week to</a:t>
            </a:r>
          </a:p>
          <a:p>
            <a:pPr indent="-914400" algn="l"/>
            <a:r>
              <a:rPr sz="1050" b="0" i="0" dirty="0">
                <a:solidFill>
                  <a:srgbClr val="444444"/>
                </a:solidFill>
                <a:latin typeface="Daimler CS"/>
              </a:rPr>
              <a:t>prevent within-series leakage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417320"/>
            <a:ext cx="3794760" cy="484632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19" y="1417320"/>
            <a:ext cx="36576" cy="484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1" y="1527048"/>
            <a:ext cx="3557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Encoding &amp; Feature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9911" y="1892808"/>
            <a:ext cx="35570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9911" y="19385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RFM features (Recency, Frequency, Monetary)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computed on training period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1" y="226771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16 behavioural features: tenure, cadence,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online ratio, basket diversity, HHI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259689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StandardScaler applied to K-Means features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before 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2926079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Content features: 94-dim one-hot encoding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(product group, garment group, colour)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1" y="325526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Lag 1–4 weeks + 4-week &amp; 8-week rolling</a:t>
            </a:r>
          </a:p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averages for demand forecasting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5 — K-Means K=4  |  Silhouette = 0.2195  |  16 leakage-safe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Daimler CS"/>
              </a:rPr>
              <a:t>Behavioural features: RFM, price, product diversity, channel mix, purchase cadence — all from training period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2834640" cy="4480560"/>
          </a:xfrm>
          <a:prstGeom prst="rect">
            <a:avLst/>
          </a:prstGeom>
          <a:solidFill>
            <a:srgbClr val="00000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Daimler CS"/>
              </a:rPr>
              <a:t>Occasional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Daimler CS"/>
              </a:rPr>
              <a:t>In-Store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  <a:latin typeface="Daimler CS"/>
              </a:rP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529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Low frequency · high recency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(last purchase distant)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In-store channel dominant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528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  <a:latin typeface="Daimler CS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Re-engagement campaigns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In-store events &amp; promotions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19072"/>
            <a:ext cx="2834640" cy="44805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8013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Daimler CS"/>
              </a:rPr>
              <a:t>Active Regular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514600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2587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7070"/>
                </a:solidFill>
                <a:latin typeface="Daimler CS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8529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Moderate frequency · recent purchases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Mixed online + in-store 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224528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4297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7070"/>
                </a:solidFill>
                <a:latin typeface="Daimler CS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5537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Cross-sell adjacent categories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Email personalisation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19072"/>
            <a:ext cx="2834640" cy="44805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8013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Daimler CS"/>
              </a:rPr>
              <a:t>Loyal High-Value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14600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587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7070"/>
                </a:solidFill>
                <a:latin typeface="Daimler CS"/>
              </a:rPr>
              <a:t>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529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High frequency &amp; spend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Long tenure · diverse basket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Online + in-store power 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24528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297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7070"/>
                </a:solidFill>
                <a:latin typeface="Daimler CS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537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Loyalty rewards · early access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Daimler CS"/>
              </a:rPr>
              <a:t>VIP treatment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719072"/>
            <a:ext cx="2834640" cy="4480560"/>
          </a:xfrm>
          <a:prstGeom prst="rect">
            <a:avLst/>
          </a:prstGeom>
          <a:solidFill>
            <a:srgbClr val="00000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72600" y="18013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Daimler CS"/>
              </a:rPr>
              <a:t>At-Risk Lapsed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2514600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72600" y="2587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  <a:latin typeface="Daimler CS"/>
              </a:rPr>
              <a:t>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8529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Low recent activity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Historically moderate spend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Declining engagement trend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4224528"/>
            <a:ext cx="2560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72600" y="4297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  <a:latin typeface="Daimler CS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5537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Win-back offers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Daimler CS"/>
              </a:rPr>
              <a:t>Re-activation discounts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5 — Random Forest beats seasonal naive by 55.8%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2743200" cy="192024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36576" cy="1920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07070"/>
                </a:solidFill>
                <a:latin typeface="Daimler CS"/>
              </a:rPr>
              <a:t>WAPE — Seasonal Naive</a:t>
            </a:r>
          </a:p>
          <a:p>
            <a:pPr algn="ctr"/>
            <a:r>
              <a:rPr sz="950" b="0" i="0">
                <a:solidFill>
                  <a:srgbClr val="707070"/>
                </a:solidFill>
                <a:latin typeface="Daimler CS"/>
              </a:rPr>
              <a:t>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755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Daimler CS"/>
              </a:rPr>
              <a:t>0.2470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98448"/>
            <a:ext cx="2743200" cy="192024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298448"/>
            <a:ext cx="36576" cy="1920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07070"/>
                </a:solidFill>
                <a:latin typeface="Daimler CS"/>
              </a:rPr>
              <a:t>WAPE — Linear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755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Daimler CS"/>
              </a:rPr>
              <a:t>0.1414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Daimler CS"/>
              </a:rPr>
              <a:t>-42.8%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98448"/>
            <a:ext cx="2743200" cy="192024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1298448"/>
            <a:ext cx="36576" cy="1920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07070"/>
                </a:solidFill>
                <a:latin typeface="Daimler CS"/>
              </a:rPr>
              <a:t>WAPE —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755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Daimler CS"/>
              </a:rPr>
              <a:t>0.1358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Daimler CS"/>
              </a:rPr>
              <a:t>-45.0%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298448"/>
            <a:ext cx="2743200" cy="1920240"/>
          </a:xfrm>
          <a:prstGeom prst="rect">
            <a:avLst/>
          </a:prstGeom>
          <a:solidFill>
            <a:srgbClr val="00000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19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4AF37"/>
                </a:solidFill>
                <a:latin typeface="Daimler CS"/>
              </a:rPr>
              <a:t>WAPE — Random Forest</a:t>
            </a:r>
          </a:p>
          <a:p>
            <a:pPr algn="ctr"/>
            <a:r>
              <a:rPr sz="950" b="0" i="0">
                <a:solidFill>
                  <a:srgbClr val="D4AF37"/>
                </a:solidFill>
                <a:latin typeface="Daimler CS"/>
              </a:rPr>
              <a:t>(Selected ✓)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1755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Daimler CS"/>
              </a:rPr>
              <a:t>0.1092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Daimler CS"/>
              </a:rPr>
              <a:t>-55.8%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83280"/>
            <a:ext cx="115214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520440"/>
            <a:ext cx="5577840" cy="26517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520440"/>
            <a:ext cx="36576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" y="3630168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Why Random Forest Wins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995928"/>
            <a:ext cx="534009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40416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Captures non-linear lag relationships better than Linear 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3708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Top features: lag_1 volume, rolling 4-week mean, week-of-year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7000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Robust to category-level variance in weekly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0292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200 trees / max_depth=12 — sufficient without overfitting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520440"/>
            <a:ext cx="5806440" cy="265176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3520440"/>
            <a:ext cx="36576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9631" y="3630168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Business 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1" y="3995928"/>
            <a:ext cx="556869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1" y="404164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55.8% reduction in forecast error vs naive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43708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Enables tighter stock replenishment and markdown cycles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470001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Per-category forecasts support targeted inventory decisions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1" y="502920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Model re-trains weekly as new transactions accumulate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5 — Item-Item CF  |  Recall@10 = 0.0124  |  +67.5% vs popularity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2834640" cy="224028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36576" cy="2240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353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Daimler CS"/>
              </a:rPr>
              <a:t>Popularity</a:t>
            </a:r>
          </a:p>
          <a:p>
            <a:pPr algn="ctr"/>
            <a:r>
              <a:rPr sz="1200" b="1" i="0">
                <a:solidFill>
                  <a:srgbClr val="000000"/>
                </a:solidFill>
                <a:latin typeface="Daimler CS"/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19659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Recall@10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0.0074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395728"/>
            <a:ext cx="12801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707070"/>
                </a:solidFill>
                <a:latin typeface="Daimler CS"/>
              </a:rPr>
              <a:t>NDCG@10</a:t>
            </a:r>
            <a:r>
              <a:rPr lang="en-US" sz="950" b="0" i="0" dirty="0">
                <a:solidFill>
                  <a:srgbClr val="707070"/>
                </a:solidFill>
                <a:latin typeface="Daimler CS"/>
              </a:rPr>
              <a:t>*</a:t>
            </a:r>
            <a:endParaRPr sz="950" b="0" i="0" dirty="0">
              <a:solidFill>
                <a:srgbClr val="707070"/>
              </a:solidFill>
              <a:latin typeface="Daimler 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83080" y="23957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0.0062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&lt;0.01%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298448"/>
            <a:ext cx="2834640" cy="224028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1840" y="1298448"/>
            <a:ext cx="36576" cy="2240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6432" y="1353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Daimler CS"/>
              </a:rPr>
              <a:t>Segment-Based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19659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6432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Recall@10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0.0063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2395728"/>
            <a:ext cx="12801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707070"/>
                </a:solidFill>
                <a:latin typeface="Daimler CS"/>
              </a:rPr>
              <a:t>NDCG@10</a:t>
            </a:r>
            <a:r>
              <a:rPr lang="en-US" sz="950" b="0" i="0" dirty="0">
                <a:solidFill>
                  <a:srgbClr val="707070"/>
                </a:solidFill>
                <a:latin typeface="Daimler CS"/>
              </a:rPr>
              <a:t>*</a:t>
            </a:r>
            <a:endParaRPr sz="950" b="0" i="0" dirty="0">
              <a:solidFill>
                <a:srgbClr val="707070"/>
              </a:solidFill>
              <a:latin typeface="Daimler 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23957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~1%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298448"/>
            <a:ext cx="2834640" cy="2240280"/>
          </a:xfrm>
          <a:prstGeom prst="rect">
            <a:avLst/>
          </a:prstGeom>
          <a:solidFill>
            <a:srgbClr val="00000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1298448"/>
            <a:ext cx="36576" cy="2240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1353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Daimler CS"/>
              </a:rPr>
              <a:t>Item-Item CF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Daimler CS"/>
              </a:rPr>
              <a:t>(Selected ✓)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8231" y="19659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1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Daimler CS"/>
              </a:rPr>
              <a:t>Recall@10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Daimler CS"/>
              </a:rPr>
              <a:t>0.0124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2395728"/>
            <a:ext cx="12801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D4AF37"/>
                </a:solidFill>
                <a:latin typeface="Daimler CS"/>
              </a:rPr>
              <a:t>NDCG@10</a:t>
            </a:r>
            <a:r>
              <a:rPr lang="en-US" sz="950" b="0" i="0" dirty="0">
                <a:solidFill>
                  <a:srgbClr val="D4AF37"/>
                </a:solidFill>
                <a:latin typeface="Daimler CS"/>
              </a:rPr>
              <a:t>*</a:t>
            </a:r>
            <a:endParaRPr sz="950" b="0" i="0" dirty="0">
              <a:solidFill>
                <a:srgbClr val="D4AF37"/>
              </a:solidFill>
              <a:latin typeface="Daimler 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26679" y="23957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Daimler CS"/>
              </a:rPr>
              <a:t>0.0107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1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Daimler CS"/>
              </a:rPr>
              <a:t>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Daimler CS"/>
              </a:rPr>
              <a:t>15.9%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298448"/>
            <a:ext cx="2834640" cy="224028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35440" y="1298448"/>
            <a:ext cx="36576" cy="2240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00032" y="1353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Daimler CS"/>
              </a:rPr>
              <a:t>Hybrid CF+Content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00032" y="196596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00032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Recall@10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2057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0.0123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2395728"/>
            <a:ext cx="12801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707070"/>
                </a:solidFill>
                <a:latin typeface="Daimler CS"/>
              </a:rPr>
              <a:t>NDCG@10</a:t>
            </a:r>
            <a:r>
              <a:rPr lang="en-US" sz="950" b="0" i="0" dirty="0">
                <a:solidFill>
                  <a:srgbClr val="707070"/>
                </a:solidFill>
                <a:latin typeface="Daimler CS"/>
              </a:rPr>
              <a:t>*</a:t>
            </a:r>
            <a:endParaRPr sz="950" b="0" i="0" dirty="0">
              <a:solidFill>
                <a:srgbClr val="707070"/>
              </a:solidFill>
              <a:latin typeface="Daimler 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98480" y="23957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Daimler CS"/>
              </a:rPr>
              <a:t>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Daimler CS"/>
              </a:rPr>
              <a:t>34.1%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657600"/>
            <a:ext cx="11521440" cy="384048"/>
          </a:xfrm>
          <a:prstGeom prst="rect">
            <a:avLst/>
          </a:prstGeom>
          <a:solidFill>
            <a:srgbClr val="FFFFE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79" y="3703320"/>
            <a:ext cx="11338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i="1" dirty="0">
                <a:solidFill>
                  <a:srgbClr val="707070"/>
                </a:solidFill>
                <a:latin typeface="Daimler CS"/>
              </a:rPr>
              <a:t>*</a:t>
            </a:r>
            <a:r>
              <a:rPr sz="900" b="0" i="1" dirty="0">
                <a:solidFill>
                  <a:srgbClr val="707070"/>
                </a:solidFill>
                <a:latin typeface="Daimler CS"/>
              </a:rPr>
              <a:t>NDCG@10 (</a:t>
            </a:r>
            <a:r>
              <a:rPr sz="900" b="0" i="1" dirty="0" err="1">
                <a:solidFill>
                  <a:srgbClr val="707070"/>
                </a:solidFill>
                <a:latin typeface="Daimler CS"/>
              </a:rPr>
              <a:t>Normalised</a:t>
            </a:r>
            <a:r>
              <a:rPr sz="900" b="0" i="1" dirty="0">
                <a:solidFill>
                  <a:srgbClr val="707070"/>
                </a:solidFill>
                <a:latin typeface="Daimler CS"/>
              </a:rPr>
              <a:t> Discounted Cumulative Gain at 10): measures not just whether relevant items appear in the top 10, but how highly they are ranked — items shown first score more than items shown last. Higher = better.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160520"/>
            <a:ext cx="115214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0040" y="4279392"/>
            <a:ext cx="5577840" cy="192024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0040" y="4279392"/>
            <a:ext cx="36576" cy="1920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632" y="438912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How It Works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" y="4754879"/>
            <a:ext cx="534009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632" y="48006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L2-normalised user-item matrix (523K × 60K, scipy sparse CSR)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51297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Item-item cosine similarity (143M non-zeros)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" y="54589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Batch scoring — top-10 articles by predicted affinity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5788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Cold-start: falls back to segment-based popularity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279392"/>
            <a:ext cx="5806440" cy="1920240"/>
          </a:xfrm>
          <a:prstGeom prst="rect">
            <a:avLst/>
          </a:prstGeom>
          <a:solidFill>
            <a:srgbClr val="F0F0F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035040" y="4279392"/>
            <a:ext cx="36576" cy="1920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99631" y="4389120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Daimler CS"/>
              </a:rPr>
              <a:t>Cohort Analysis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9631" y="4754879"/>
            <a:ext cx="556869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99631" y="480060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Light users (≤11 tx): Recall@10 = 0.0153  (best cohort)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1" y="512978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Heavy / loyal users: Recall@10 = 0.0091  (hardest)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1" y="545896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Cold-start (100K customers): segment-based fallback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9631" y="578815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Daimler CS"/>
              </a:rPr>
              <a:t>•  Hybrid extends catalogue coverage 16% → 34%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FFFFFF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Daimler CS"/>
              </a:rPr>
              <a:t>Model Evaluation — Results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Daimler CS"/>
              </a:rPr>
              <a:t>Section 6 — Metrics, model comparison, and optimal model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21440" cy="40233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Daimler CS"/>
              </a:rPr>
              <a:t>Workstream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Daimler C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Daimler CS"/>
              </a:rPr>
              <a:t>Best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Daimler CS"/>
              </a:rP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Daimler CS"/>
              </a:rPr>
              <a:t>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83080"/>
            <a:ext cx="11521440" cy="105156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1783080"/>
            <a:ext cx="36576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1874519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Demand</a:t>
            </a:r>
          </a:p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87451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Seasonal Naive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WAPE = 0.2470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87451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Random Forest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WAPE = 0.1092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87451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WAPE</a:t>
            </a:r>
          </a:p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(lower is better)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82880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Daimler CS"/>
              </a:rPr>
              <a:t>−55.8%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62072"/>
            <a:ext cx="115214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862072"/>
            <a:ext cx="36576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29535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Customer</a:t>
            </a:r>
          </a:p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953512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K=4 baseline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Silhouette = 0.2195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953512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K-Means K=4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Silhouette = 0.2195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95351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Silhouette</a:t>
            </a:r>
          </a:p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(higher better)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07791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Daimler CS"/>
              </a:rPr>
              <a:t>Target</a:t>
            </a:r>
          </a:p>
          <a:p>
            <a:pPr algn="ctr"/>
            <a:r>
              <a:rPr sz="2000" b="1" i="0">
                <a:solidFill>
                  <a:srgbClr val="000000"/>
                </a:solidFill>
                <a:latin typeface="Daimler CS"/>
              </a:rPr>
              <a:t>met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41063"/>
            <a:ext cx="11521440" cy="105156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941063"/>
            <a:ext cx="36576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4032503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Recommendations</a:t>
            </a:r>
          </a:p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(Recall)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032503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Popularity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Recall@10 = 0.0074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032503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Item-Item CF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Recall@10 = 0.0124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032503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Recall@10</a:t>
            </a:r>
          </a:p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(higher better)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986783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Daimler CS"/>
              </a:rPr>
              <a:t>+67.5%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20056"/>
            <a:ext cx="115214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020056"/>
            <a:ext cx="36576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" y="5111496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Recommendations</a:t>
            </a:r>
          </a:p>
          <a:p>
            <a:pPr algn="l"/>
            <a:r>
              <a:rPr sz="1100" b="1" i="0">
                <a:solidFill>
                  <a:srgbClr val="000000"/>
                </a:solidFill>
                <a:latin typeface="Daimler CS"/>
              </a:rPr>
              <a:t>(Coverage)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111496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Popularity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&lt; 0.01%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5111496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Hybrid CF+Content</a:t>
            </a:r>
          </a:p>
          <a:p>
            <a:pPr algn="ctr"/>
            <a:r>
              <a:rPr sz="1050" b="0" i="0">
                <a:solidFill>
                  <a:srgbClr val="444444"/>
                </a:solidFill>
                <a:latin typeface="Daimler CS"/>
              </a:rPr>
              <a:t>34.1%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5111496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Catalogue</a:t>
            </a:r>
          </a:p>
          <a:p>
            <a:pPr algn="ctr"/>
            <a:r>
              <a:rPr sz="1050" b="0" i="0">
                <a:solidFill>
                  <a:srgbClr val="707070"/>
                </a:solidFill>
                <a:latin typeface="Daimler CS"/>
              </a:rPr>
              <a:t>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5065776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  <a:latin typeface="Daimler CS"/>
              </a:rPr>
              <a:t>+3400x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Daimler CS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657600" cy="3383280"/>
          </a:xfrm>
          <a:prstGeom prst="rect">
            <a:avLst/>
          </a:prstGeom>
          <a:solidFill>
            <a:srgbClr val="1C2B35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45720" cy="3383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337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D4AF37"/>
                </a:solidFill>
                <a:latin typeface="Daimler CS"/>
              </a:rPr>
              <a:t>Demand Forecast</a:t>
            </a:r>
            <a:endParaRPr sz="1300" b="1" i="0" dirty="0">
              <a:solidFill>
                <a:srgbClr val="D4AF37"/>
              </a:solidFill>
              <a:latin typeface="Daimler 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2130552"/>
            <a:ext cx="329184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67712"/>
            <a:ext cx="32918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CCDDEE"/>
                </a:solidFill>
                <a:latin typeface="Daimler CS"/>
              </a:rPr>
              <a:t>The Random Forest model cuts forecast error from 24.7% to 10.9% (WAPE) — roughly half the error of the seasonal naive baseline used in most retail planning systems.                                                                                                                                                  </a:t>
            </a:r>
          </a:p>
          <a:p>
            <a:r>
              <a:rPr lang="en-US" sz="1100" dirty="0">
                <a:solidFill>
                  <a:srgbClr val="CCDDEE"/>
                </a:solidFill>
                <a:latin typeface="Daimler CS"/>
              </a:rPr>
              <a:t>                                                                                                                                                             In practical terms: for every £100,000 of planned inventory, the old approach was off by £24,700 on average. The new model reduces that to £10,900.</a:t>
            </a:r>
            <a:endParaRPr sz="1100" b="0" i="0" dirty="0">
              <a:solidFill>
                <a:srgbClr val="CCDDEE"/>
              </a:solidFill>
              <a:latin typeface="Daimler 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80560" y="1600200"/>
            <a:ext cx="3657600" cy="3383280"/>
          </a:xfrm>
          <a:prstGeom prst="rect">
            <a:avLst/>
          </a:prstGeom>
          <a:solidFill>
            <a:srgbClr val="1C2B35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4480560" y="1600200"/>
            <a:ext cx="45720" cy="3383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691640"/>
            <a:ext cx="3337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D4AF37"/>
                </a:solidFill>
                <a:latin typeface="Daimler CS"/>
              </a:rPr>
              <a:t>Customer Segmentation</a:t>
            </a:r>
            <a:endParaRPr sz="1300" b="1" i="0" dirty="0">
              <a:solidFill>
                <a:srgbClr val="D4AF37"/>
              </a:solidFill>
              <a:latin typeface="Daimler 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40" y="2130552"/>
            <a:ext cx="329184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2267712"/>
            <a:ext cx="32918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CCDDEE"/>
                </a:solidFill>
                <a:latin typeface="Daimler CS"/>
              </a:rPr>
              <a:t>The customers who are hardest to recommend to are the most valuable ones. Heavy/loyal users (Segment 3) have Recall@10 of 0.009 vs 0.015 for light users.</a:t>
            </a:r>
            <a:endParaRPr sz="1100" b="0" i="0" dirty="0">
              <a:solidFill>
                <a:srgbClr val="CCDDEE"/>
              </a:solidFill>
              <a:latin typeface="Daimler 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66760" y="1600200"/>
            <a:ext cx="3657600" cy="3383280"/>
          </a:xfrm>
          <a:prstGeom prst="rect">
            <a:avLst/>
          </a:prstGeom>
          <a:solidFill>
            <a:srgbClr val="1C2B35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1600200"/>
            <a:ext cx="45720" cy="3383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9640" y="1691640"/>
            <a:ext cx="3337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D4AF37"/>
                </a:solidFill>
                <a:latin typeface="Daimler CS"/>
              </a:rPr>
              <a:t>Recommendations</a:t>
            </a:r>
            <a:endParaRPr sz="1300" b="1" i="0" dirty="0">
              <a:solidFill>
                <a:srgbClr val="D4AF37"/>
              </a:solidFill>
              <a:latin typeface="Daimler 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49640" y="2130552"/>
            <a:ext cx="329184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267712"/>
            <a:ext cx="32918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CCDDEE"/>
                </a:solidFill>
                <a:latin typeface="Daimler CS"/>
              </a:rPr>
              <a:t>The recommendation system increases the chance of a customer clicking and item by ~67.5% vs just suggesting the top 10 sellers.</a:t>
            </a:r>
            <a:endParaRPr sz="1100" b="0" i="0" dirty="0">
              <a:solidFill>
                <a:srgbClr val="CCDDEE"/>
              </a:solidFill>
              <a:latin typeface="Daimler 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5212080"/>
            <a:ext cx="11155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CDDEE"/>
                </a:solidFill>
                <a:latin typeface="Daimler CS"/>
              </a:rPr>
              <a:t>The platform demonstrates that data-driven decisions can materially reduce three chronic retail costs simultaneously:</a:t>
            </a:r>
          </a:p>
          <a:p>
            <a:r>
              <a:rPr lang="en-US" sz="1200" b="1" dirty="0">
                <a:solidFill>
                  <a:srgbClr val="CCDDEE"/>
                </a:solidFill>
                <a:latin typeface="Daimler CS"/>
              </a:rPr>
              <a:t>  - Overstock / stock-out (forecasting improvement)</a:t>
            </a:r>
          </a:p>
          <a:p>
            <a:r>
              <a:rPr lang="en-US" sz="1200" b="1" dirty="0">
                <a:solidFill>
                  <a:srgbClr val="CCDDEE"/>
                </a:solidFill>
                <a:latin typeface="Daimler CS"/>
              </a:rPr>
              <a:t>  - Marketing waste (targeted segmentation vs broadcast)</a:t>
            </a:r>
          </a:p>
          <a:p>
            <a:r>
              <a:rPr lang="en-US" sz="1200" b="1" dirty="0">
                <a:solidFill>
                  <a:srgbClr val="CCDDEE"/>
                </a:solidFill>
                <a:latin typeface="Daimler CS"/>
              </a:rPr>
              <a:t>  - Recommendation irrelevance (CF vs popularity)</a:t>
            </a:r>
            <a:endParaRPr sz="1200" b="1" i="0" dirty="0">
              <a:solidFill>
                <a:srgbClr val="CCDDEE"/>
              </a:solidFill>
              <a:latin typeface="Daimler 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928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Daimler CS"/>
              </a:rPr>
              <a:t>UC Berkeley ML/AI Capstone  |  Retail Intelligence Platform  |  Makasa Kawimbe  |  Aug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97ea58d-47e6-47cc-9ab7-39ab03def869}" enabled="1" method="Standard" siteId="{505cca53-5750-4134-9501-8d52d5df3cd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1614</Words>
  <Application>Microsoft Office PowerPoint</Application>
  <PresentationFormat>Custom</PresentationFormat>
  <Paragraphs>284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Daimler 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Kawimbe, Makasa (164)</cp:lastModifiedBy>
  <cp:revision>1</cp:revision>
  <dcterms:created xsi:type="dcterms:W3CDTF">2013-01-27T09:14:16Z</dcterms:created>
  <dcterms:modified xsi:type="dcterms:W3CDTF">2026-08-20T06:02:18Z</dcterms:modified>
  <cp:category/>
</cp:coreProperties>
</file>